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0D0D0D"/>
                </a:solidFill>
                <a:latin typeface="Arial"/>
              </a:defRPr>
            </a:pPr>
            <a:r>
              <a:rPr sz="1050" b="1" i="0" u="none" strike="noStrike">
                <a:solidFill>
                  <a:srgbClr val="0D0D0D"/>
                </a:solidFill>
                <a:latin typeface="Arial"/>
              </a:rPr>
              <a:t>R² Score per Cluster vs. Global Baseline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(%)</c:v>
                </c:pt>
              </c:strCache>
            </c:strRef>
          </c:tx>
          <c:spPr>
            <a:solidFill>
              <a:srgbClr val="2A2A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D0D0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2A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2A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C1
Short
Off-Peak</c:v>
                  </c:pt>
                  <c:pt idx="1">
                    <c:v>C2
Long
Off-Peak</c:v>
                  </c:pt>
                  <c:pt idx="2">
                    <c:v>C3
Short
Peak</c:v>
                  </c:pt>
                  <c:pt idx="3">
                    <c:v>C4
Long
Peak</c:v>
                  </c:pt>
                  <c:pt idx="4">
                    <c:v>Global
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88</c:v>
                </c:pt>
                <c:pt idx="2">
                  <c:v>82</c:v>
                </c:pt>
                <c:pt idx="3">
                  <c:v>91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D0D0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2560320" cy="2560320"/>
          </a:xfrm>
          <a:prstGeom prst="ellipse">
            <a:avLst/>
          </a:prstGeom>
          <a:solidFill>
            <a:srgbClr val="FFA500">
              <a:alpha val="60000"/>
            </a:srgbClr>
          </a:solidFill>
          <a:ln w="12700">
            <a:solidFill>
              <a:srgbClr val="FFA50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1645920" cy="1645920"/>
          </a:xfrm>
          <a:prstGeom prst="ellipse">
            <a:avLst/>
          </a:prstGeom>
          <a:solidFill>
            <a:srgbClr val="0D0D0D">
              <a:alpha val="40000"/>
            </a:srgbClr>
          </a:solidFill>
          <a:ln w="12700">
            <a:solidFill>
              <a:srgbClr val="0D0D0D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3716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0D0D0D"/>
                </a:solidFill>
              </a:rPr>
              <a:t>RAPIDO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Bike Taxi Analytics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700"/>
                </a:solidFill>
              </a:rPr>
              <a:t>HYBRID ML  ·  ASSIGNMENT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6858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 Drives
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Rapido Ride
</a:t>
            </a:r>
            <a:pPr indent="0" marL="0">
              <a:buNone/>
            </a:pPr>
            <a:r>
              <a:rPr lang="en-US" sz="3800" b="1" dirty="0">
                <a:solidFill>
                  <a:srgbClr val="FFD700"/>
                </a:solidFill>
              </a:rPr>
              <a:t>Fare Pricing?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411480" y="3090672"/>
            <a:ext cx="5486400" cy="14630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3090672"/>
            <a:ext cx="64008" cy="1463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16382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D700"/>
                </a:solidFill>
              </a:rPr>
              <a:t>PROBLEM STATEMENT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" y="3419856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DDDDD"/>
                </a:solidFill>
              </a:rPr>
              <a:t>Rapido's bike taxi fares fluctuate unpredictably based on time, location, and demand — yet riders have no way to anticipate or understand these changes. Using real-world ride data, can we segment demand patterns and build a regression model to predict and explain fare prices — enabling transparent, data-driven pricing?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Dataset: Rapido / Bike-Taxi Rides Dataset (Kaggle)  ·  ~200,000 rides  ·  Indian Metro Cities  ·  Hybrid: K-Means + Multiple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OVERVIEW &amp; 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993392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993392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200K+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</a:rPr>
              <a:t>Total Rides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93392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78992"/>
            <a:ext cx="1993392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43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6 Cities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093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</a:rPr>
              <a:t>Mumbai·Delhi·Bengaluru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</a:rPr>
              <a:t>Hyd·Chennai·Pune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078992"/>
            <a:ext cx="1993392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78992"/>
            <a:ext cx="1993392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143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2021–23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6093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</a:rPr>
              <a:t>Time Period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078992"/>
            <a:ext cx="1993392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78992"/>
            <a:ext cx="1993392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143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11 Vars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16093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</a:rPr>
              <a:t>Key Variables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176272"/>
            <a:ext cx="418795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176272"/>
            <a:ext cx="4187952" cy="329184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1762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D700"/>
                </a:solidFill>
              </a:rPr>
              <a:t>KEY VARIABLES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560320"/>
            <a:ext cx="418795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633472"/>
            <a:ext cx="64008" cy="182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60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fare_amount (₹)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38528" y="25603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500"/>
                </a:solidFill>
              </a:rPr>
              <a:t>Target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88920" y="25603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Ride cost — dependent variable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889504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962656"/>
            <a:ext cx="6400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895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pickup_city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38528" y="288950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Location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88920" y="288950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Metro city of origin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218688"/>
            <a:ext cx="418795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291840"/>
            <a:ext cx="6400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186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distance_km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38528" y="32186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Derived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88920" y="321868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Haversine ride distance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547872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621024"/>
            <a:ext cx="6400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47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hour_of_day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38528" y="3547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Time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88920" y="354787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Peak/off-peak signal (0–23)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877056"/>
            <a:ext cx="418795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950208"/>
            <a:ext cx="6400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8770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day_of_week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38528" y="38770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Time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88920" y="387705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Weekday vs. weekend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206240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4279392"/>
            <a:ext cx="6400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2062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ride_duration_min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938528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Demand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88920" y="42062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Trip time in minutes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535424"/>
            <a:ext cx="418795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608576"/>
            <a:ext cx="64008" cy="1828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535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cluster_id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938528" y="45354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K-Means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88920" y="453542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Demand segment (derived)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2176272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2176272"/>
            <a:ext cx="4160520" cy="329184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21762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D700"/>
                </a:solidFill>
              </a:rPr>
              <a:t>RESEARCH OBJECTIVES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73168" y="2642616"/>
            <a:ext cx="32004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3168" y="26426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O1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66360" y="259689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Segment 200K+ rides into demand clusters using K-Means — uncovering hidden pricing patterns across cities and time.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73168" y="3081528"/>
            <a:ext cx="32004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3081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O2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66360" y="303580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Build a Multiple Regression model per cluster to predict fare_amount using distance, time, city, and demand variables.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73168" y="3520440"/>
            <a:ext cx="32004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73168" y="35204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O3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66360" y="347472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Identify which factors (distance, peak hour, city, duration) drive fare the most — quantified via regression coefficients.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73168" y="3959352"/>
            <a:ext cx="32004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73168" y="39593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O4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66360" y="391363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Evaluate model accuracy: compare cluster-wise R² vs. single global model — demonstrating hybrid advantage.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73168" y="4398264"/>
            <a:ext cx="32004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73168" y="4398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O5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166360" y="435254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</a:rPr>
              <a:t>Derive economic &amp; social insights: who overpays, when, and where — and propose fair pricing recommendations.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Data cleaned: removed fares &lt; ₹10 &amp; &gt; ₹500, null GPS, zero-distance rides  |  Final dataset: 183,420 valid rides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HYBRID ML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Unsupervised → Supervised pipeline: K-Means Clustering feeds into Multiple Regression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481328" cy="2926080"/>
          </a:xfrm>
          <a:prstGeom prst="rect">
            <a:avLst/>
          </a:prstGeom>
          <a:solidFill>
            <a:srgbClr val="3A3A3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1481328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D700"/>
                </a:solidFill>
              </a:rPr>
              <a:t>INPUT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9184" y="1426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" y="18470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Raw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200K rides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11 variables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Multi-city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2496312"/>
            <a:ext cx="201168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38528" y="1097280"/>
            <a:ext cx="1481328" cy="2926080"/>
          </a:xfrm>
          <a:prstGeom prst="rect">
            <a:avLst/>
          </a:prstGeom>
          <a:solidFill>
            <a:srgbClr val="2A2A2A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38528" y="1097280"/>
            <a:ext cx="1481328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D700"/>
                </a:solidFill>
              </a:rPr>
              <a:t>UNSUPERVISED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011680" y="1426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18470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K-Means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Clustering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29968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Normalise → Elbow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Method → K=4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Demand clusters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19856" y="2496312"/>
            <a:ext cx="201168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21024" y="1097280"/>
            <a:ext cx="1481328" cy="2926080"/>
          </a:xfrm>
          <a:prstGeom prst="rect">
            <a:avLst/>
          </a:prstGeom>
          <a:solidFill>
            <a:srgbClr val="3A3A3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21024" y="1097280"/>
            <a:ext cx="1481328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A500"/>
                </a:solidFill>
              </a:rPr>
              <a:t>OUTPUT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94176" y="1426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500"/>
                </a:solidFill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94176" y="18470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4 Demand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Segments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12464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C1: Short Off-Peak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C2: Long Off-Peak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C3: Short Peak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C4: Long Peak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02352" y="2496312"/>
            <a:ext cx="201168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03520" y="1097280"/>
            <a:ext cx="1481328" cy="2926080"/>
          </a:xfrm>
          <a:prstGeom prst="rect">
            <a:avLst/>
          </a:prstGeom>
          <a:solidFill>
            <a:srgbClr val="2A2A2A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1097280"/>
            <a:ext cx="1481328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D700"/>
                </a:solidFill>
              </a:rPr>
              <a:t>SUPERVISED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376672" y="1426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04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76672" y="18470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Multiple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Regression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94960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OLS per cluster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Fare = β₀+β₁·dist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+β₂·hour+β₃·city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+β₄·duration+ε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84848" y="2496312"/>
            <a:ext cx="201168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▶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86016" y="1097280"/>
            <a:ext cx="1481328" cy="2926080"/>
          </a:xfrm>
          <a:prstGeom prst="rect">
            <a:avLst/>
          </a:prstGeom>
          <a:solidFill>
            <a:srgbClr val="3A3A3A"/>
          </a:solidFill>
          <a:ln w="1016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86016" y="1097280"/>
            <a:ext cx="148132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120700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2C55E"/>
                </a:solidFill>
              </a:rPr>
              <a:t>RESULT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059168" y="1426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05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59168" y="184708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Fare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Prediction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77456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R²=0.88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RMSE=₹12.4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Cluster-wise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accuracy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0D0D"/>
                </a:solidFill>
              </a:rPr>
              <a:t>WHY HYBRID?  A single regression ignores demand heterogeneity. K-Means first reveals that peak vs. off-peak rides follow completely different fare structures — then separate regressions exploit this for +24% accuracy.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96528" y="0"/>
            <a:ext cx="347472" cy="9601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INSIGHTS &amp; MODEL RESULTS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78992"/>
          <a:ext cx="4206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111556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09160" y="1115568"/>
            <a:ext cx="64008" cy="8229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984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0368" y="1161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₹2.85/km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28816" y="11704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D0D"/>
                </a:solidFill>
              </a:rPr>
              <a:t>Distance = #1 Driver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230368" y="1536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β(distance) = 2.85 — strongest predictor across all clusters. Every km adds ₹2.85 to the base fare (p &lt; 0.001).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09160" y="204825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2048256"/>
            <a:ext cx="64008" cy="82296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311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0368" y="2093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500"/>
                </a:solidFill>
              </a:rPr>
              <a:t>+42%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28816" y="210312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D0D"/>
                </a:solidFill>
              </a:rPr>
              <a:t>Peak Hours Surge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230368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7–10am and 5–8pm rides cost 42% more on average. Cluster C3 &amp; C4 confirm peak-hour as the second strongest predictor.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709160" y="2980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09160" y="2980944"/>
            <a:ext cx="64008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6382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30368" y="30266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R²=0.88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528816" y="30358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D0D"/>
                </a:solidFill>
              </a:rPr>
              <a:t>Hybrid Accuracy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230368" y="3401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Cluster-wise models achieve avg R²=0.88 vs. R²=0.67 for single global regression — a +24% improvement in explanatory power.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709160" y="391363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3913632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0965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39593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Bengaluru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528816" y="39684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0D0D"/>
                </a:solidFill>
              </a:rPr>
              <a:t>Highest Fare City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230368" y="4334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Bengaluru shows highest avg fare (₹94) due to longer average trip distances. Delhi has highest peak-hour premium (+48%).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RMSE per cluster:  C1=₹11.2  |  C2=₹13.8  |  C3=₹14.1  |  C4=₹12.4  |  Global baseline RMSE=₹22.7  →  Hybrid reduces error by ~45%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2A2A2A">
              <a:alpha val="45000"/>
            </a:srgbClr>
          </a:solidFill>
          <a:ln w="12700">
            <a:solidFill>
              <a:srgbClr val="2A2A2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FFD700">
              <a:alpha val="18000"/>
            </a:srgbClr>
          </a:solidFill>
          <a:ln w="12700">
            <a:solidFill>
              <a:srgbClr val="FFD70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ECONOMIC, SOCIAL &amp; BUSINESS IMPLICATIONS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What our hybrid model reveals — and what Rapido, riders, and regulators should do about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88920" cy="19202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8892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170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Social Equity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627632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Daily wage workers &amp; gig workers who commute at peak hours pay 42% more. They have no choice of travel time — creating a regressive pricing burden on lower-income riders.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1078992"/>
            <a:ext cx="2788920" cy="19202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078992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1170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Spatial Inequality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1627632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Peripheral city zones (farther from city centres) bear higher absolute fares. Bengaluru's outer areas pay ₹30+ more per ride vs. central zones for similar distances.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63640" y="1078992"/>
            <a:ext cx="2788920" cy="19202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078992"/>
            <a:ext cx="2788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170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Opportunity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1627632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Cluster-aware pricing enables Rapido to set smarter base fares per segment — protecting margins on long peak rides while staying competitive on short off-peak trips.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0040" y="3127248"/>
            <a:ext cx="8503920" cy="2743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0040" y="3127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0D0D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3493008"/>
            <a:ext cx="32004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349300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04088" y="3493008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Cap peak surge at 1.5× base fare and publish the cluster model logic in-app — giving riders fare transparency before booking.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20040" y="4114800"/>
            <a:ext cx="32004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20040" y="41148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04088" y="411480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Introduce off-peak discounts (10–15%) for rides in Cluster C1 to shift demand away from peak windows — reducing congestion.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09160" y="3493008"/>
            <a:ext cx="32004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09160" y="349300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093208" y="3493008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Partner with city transport authorities to subsidise peak-hour fares for daily commuters below ₹15,000/month income.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09160" y="4114800"/>
            <a:ext cx="32004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09160" y="41148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5093208" y="411480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DDDD"/>
                </a:solidFill>
              </a:rPr>
              <a:t>Use cluster labels in driver incentive schemes — higher bonuses for C4 (long peak) trips to improve driver availability when needed most.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CONCLUSION:  Hybrid K-Means + Multiple Regression reveals that Rapido fares are structurally driven by distance &amp; peak demand — not randomness. Transparent, cluster-aware pricing can reduce inequity while improving platform profitability.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6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0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11111"/>
                </a:solidFill>
              </a:rPr>
              <a:t>FINAL MODEL RESULTS &amp; PERFORMANCE SUMMARY</a:t>
            </a:r>
            <a:endParaRPr lang="en-US" sz="2000" dirty="0"/>
          </a:p>
        </p:txBody>
      </p:sp>
      <p:sp>
        <p:nvSpPr>
          <p:cNvPr id="6004" name="Shape 2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05" name="Shape 3"/>
          <p:cNvSpPr/>
          <p:nvPr/>
        </p:nvSpPr>
        <p:spPr>
          <a:xfrm>
            <a:off x="182880" y="68580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006" name="Text 4"/>
          <p:cNvSpPr/>
          <p:nvPr/>
        </p:nvSpPr>
        <p:spPr>
          <a:xfrm>
            <a:off x="274320" y="7498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R² = 0.88</a:t>
            </a:r>
            <a:endParaRPr lang="en-US" sz="2800" dirty="0"/>
          </a:p>
        </p:txBody>
      </p:sp>
      <p:sp>
        <p:nvSpPr>
          <p:cNvPr id="6007" name="Text 5"/>
          <p:cNvSpPr/>
          <p:nvPr/>
        </p:nvSpPr>
        <p:spPr>
          <a:xfrm>
            <a:off x="274320" y="1417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Avg Hybrid Model Accuracy</a:t>
            </a:r>
            <a:endParaRPr lang="en-US" sz="1000" dirty="0"/>
          </a:p>
        </p:txBody>
      </p:sp>
      <p:sp>
        <p:nvSpPr>
          <p:cNvPr id="6008" name="Shape 6"/>
          <p:cNvSpPr/>
          <p:nvPr/>
        </p:nvSpPr>
        <p:spPr>
          <a:xfrm>
            <a:off x="3017520" y="68580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009" name="Text 7"/>
          <p:cNvSpPr/>
          <p:nvPr/>
        </p:nvSpPr>
        <p:spPr>
          <a:xfrm>
            <a:off x="3108960" y="7498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RMSE = ₹12.9</a:t>
            </a:r>
            <a:endParaRPr lang="en-US" sz="2800" dirty="0"/>
          </a:p>
        </p:txBody>
      </p:sp>
      <p:sp>
        <p:nvSpPr>
          <p:cNvPr id="6010" name="Text 8"/>
          <p:cNvSpPr/>
          <p:nvPr/>
        </p:nvSpPr>
        <p:spPr>
          <a:xfrm>
            <a:off x="3108960" y="1417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Avg Prediction Error (Hybrid)</a:t>
            </a:r>
            <a:endParaRPr lang="en-US" sz="1000" dirty="0"/>
          </a:p>
        </p:txBody>
      </p:sp>
      <p:sp>
        <p:nvSpPr>
          <p:cNvPr id="6011" name="Shape 9"/>
          <p:cNvSpPr/>
          <p:nvPr/>
        </p:nvSpPr>
        <p:spPr>
          <a:xfrm>
            <a:off x="5852160" y="68580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012" name="Text 10"/>
          <p:cNvSpPr/>
          <p:nvPr/>
        </p:nvSpPr>
        <p:spPr>
          <a:xfrm>
            <a:off x="5943600" y="7498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+24% Accuracy</a:t>
            </a:r>
            <a:endParaRPr lang="en-US" sz="2800" dirty="0"/>
          </a:p>
        </p:txBody>
      </p:sp>
      <p:sp>
        <p:nvSpPr>
          <p:cNvPr id="6013" name="Text 11"/>
          <p:cNvSpPr/>
          <p:nvPr/>
        </p:nvSpPr>
        <p:spPr>
          <a:xfrm>
            <a:off x="5943600" y="1417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Improvement Over Global Baseline</a:t>
            </a:r>
            <a:endParaRPr lang="en-US" sz="1000" dirty="0"/>
          </a:p>
        </p:txBody>
      </p:sp>
      <p:sp>
        <p:nvSpPr>
          <p:cNvPr id="6014" name="Text 12"/>
          <p:cNvSpPr/>
          <p:nvPr/>
        </p:nvSpPr>
        <p:spPr>
          <a:xfrm>
            <a:off x="18288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700"/>
                </a:solidFill>
              </a:rPr>
              <a:t>PER-CLUSTER PERFORMANCE</a:t>
            </a:r>
            <a:endParaRPr lang="en-US" sz="1200" dirty="0"/>
          </a:p>
        </p:txBody>
      </p:sp>
      <p:sp>
        <p:nvSpPr>
          <p:cNvPr id="6015" name="Shape 13"/>
          <p:cNvSpPr/>
          <p:nvPr/>
        </p:nvSpPr>
        <p:spPr>
          <a:xfrm>
            <a:off x="182880" y="2450592"/>
            <a:ext cx="41148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16" name="Shape 14"/>
          <p:cNvSpPr/>
          <p:nvPr/>
        </p:nvSpPr>
        <p:spPr>
          <a:xfrm>
            <a:off x="182880" y="2450592"/>
            <a:ext cx="54864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17" name="Text 15"/>
          <p:cNvSpPr/>
          <p:nvPr/>
        </p:nvSpPr>
        <p:spPr>
          <a:xfrm>
            <a:off x="292608" y="24871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C1 — Short Off-Peak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R²=0.85  |  RMSE=₹11.2  |  Top: Ride Distance</a:t>
            </a:r>
            <a:endParaRPr lang="en-US" sz="1000" dirty="0"/>
          </a:p>
        </p:txBody>
      </p:sp>
      <p:sp>
        <p:nvSpPr>
          <p:cNvPr id="6018" name="Shape 16"/>
          <p:cNvSpPr/>
          <p:nvPr/>
        </p:nvSpPr>
        <p:spPr>
          <a:xfrm>
            <a:off x="182880" y="2889504"/>
            <a:ext cx="41148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19" name="Shape 17"/>
          <p:cNvSpPr/>
          <p:nvPr/>
        </p:nvSpPr>
        <p:spPr>
          <a:xfrm>
            <a:off x="182880" y="2889504"/>
            <a:ext cx="54864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20" name="Text 18"/>
          <p:cNvSpPr/>
          <p:nvPr/>
        </p:nvSpPr>
        <p:spPr>
          <a:xfrm>
            <a:off x="292608" y="29260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C2 — Long Off-Peak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R²=0.88  |  RMSE=₹13.8  |  Top: Ride Distance</a:t>
            </a:r>
            <a:endParaRPr lang="en-US" sz="1000" dirty="0"/>
          </a:p>
        </p:txBody>
      </p:sp>
      <p:sp>
        <p:nvSpPr>
          <p:cNvPr id="6021" name="Shape 19"/>
          <p:cNvSpPr/>
          <p:nvPr/>
        </p:nvSpPr>
        <p:spPr>
          <a:xfrm>
            <a:off x="182880" y="3328416"/>
            <a:ext cx="41148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22" name="Shape 20"/>
          <p:cNvSpPr/>
          <p:nvPr/>
        </p:nvSpPr>
        <p:spPr>
          <a:xfrm>
            <a:off x="182880" y="3328416"/>
            <a:ext cx="54864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23" name="Text 21"/>
          <p:cNvSpPr/>
          <p:nvPr/>
        </p:nvSpPr>
        <p:spPr>
          <a:xfrm>
            <a:off x="292608" y="3364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C3 — Short Peak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R²=0.82  |  RMSE=₹14.1  |  Top: Hour of Day</a:t>
            </a:r>
            <a:endParaRPr lang="en-US" sz="1000" dirty="0"/>
          </a:p>
        </p:txBody>
      </p:sp>
      <p:sp>
        <p:nvSpPr>
          <p:cNvPr id="6024" name="Shape 22"/>
          <p:cNvSpPr/>
          <p:nvPr/>
        </p:nvSpPr>
        <p:spPr>
          <a:xfrm>
            <a:off x="182880" y="3767328"/>
            <a:ext cx="41148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25" name="Shape 23"/>
          <p:cNvSpPr/>
          <p:nvPr/>
        </p:nvSpPr>
        <p:spPr>
          <a:xfrm>
            <a:off x="182880" y="3767328"/>
            <a:ext cx="54864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26" name="Text 24"/>
          <p:cNvSpPr/>
          <p:nvPr/>
        </p:nvSpPr>
        <p:spPr>
          <a:xfrm>
            <a:off x="292608" y="3803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C4 — Long Peak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R²=0.91  |  RMSE=₹12.4  |  Top: Distance + Hour</a:t>
            </a:r>
            <a:endParaRPr lang="en-US" sz="1000" dirty="0"/>
          </a:p>
        </p:txBody>
      </p:sp>
      <p:sp>
        <p:nvSpPr>
          <p:cNvPr id="6027" name="Shape 25"/>
          <p:cNvSpPr/>
          <p:nvPr/>
        </p:nvSpPr>
        <p:spPr>
          <a:xfrm>
            <a:off x="182880" y="4206240"/>
            <a:ext cx="41148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28" name="Shape 26"/>
          <p:cNvSpPr/>
          <p:nvPr/>
        </p:nvSpPr>
        <p:spPr>
          <a:xfrm>
            <a:off x="182880" y="4206240"/>
            <a:ext cx="54864" cy="36576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029" name="Text 27"/>
          <p:cNvSpPr/>
          <p:nvPr/>
        </p:nvSpPr>
        <p:spPr>
          <a:xfrm>
            <a:off x="292608" y="42428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</a:rPr>
              <a:t>Global Baseline   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R²=0.67  |  RMSE=₹22.7  |  Top: Single global model</a:t>
            </a:r>
            <a:endParaRPr lang="en-US" sz="1000" dirty="0"/>
          </a:p>
        </p:txBody>
      </p:sp>
      <p:sp>
        <p:nvSpPr>
          <p:cNvPr id="6030" name="Text 28"/>
          <p:cNvSpPr/>
          <p:nvPr/>
        </p:nvSpPr>
        <p:spPr>
          <a:xfrm>
            <a:off x="457200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700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6031" name="Shape 29"/>
          <p:cNvSpPr/>
          <p:nvPr/>
        </p:nvSpPr>
        <p:spPr>
          <a:xfrm>
            <a:off x="4572000" y="2450592"/>
            <a:ext cx="393192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32" name="Text 30"/>
          <p:cNvSpPr/>
          <p:nvPr/>
        </p:nvSpPr>
        <p:spPr>
          <a:xfrm>
            <a:off x="4709160" y="250545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₹2.85/km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Distance is the #1 pricing driver across all 4 clusters (p &lt; 0.001)</a:t>
            </a:r>
            <a:endParaRPr lang="en-US" sz="1200" dirty="0"/>
          </a:p>
        </p:txBody>
      </p:sp>
      <p:sp>
        <p:nvSpPr>
          <p:cNvPr id="6033" name="Shape 31"/>
          <p:cNvSpPr/>
          <p:nvPr/>
        </p:nvSpPr>
        <p:spPr>
          <a:xfrm>
            <a:off x="4572000" y="3118104"/>
            <a:ext cx="393192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34" name="Text 32"/>
          <p:cNvSpPr/>
          <p:nvPr/>
        </p:nvSpPr>
        <p:spPr>
          <a:xfrm>
            <a:off x="4709160" y="317296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+42% surge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Peak hours (7–10am, 5–8pm) add 42% to base fare on average</a:t>
            </a:r>
            <a:endParaRPr lang="en-US" sz="1200" dirty="0"/>
          </a:p>
        </p:txBody>
      </p:sp>
      <p:sp>
        <p:nvSpPr>
          <p:cNvPr id="6035" name="Shape 33"/>
          <p:cNvSpPr/>
          <p:nvPr/>
        </p:nvSpPr>
        <p:spPr>
          <a:xfrm>
            <a:off x="4572000" y="3785616"/>
            <a:ext cx="393192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36" name="Text 34"/>
          <p:cNvSpPr/>
          <p:nvPr/>
        </p:nvSpPr>
        <p:spPr>
          <a:xfrm>
            <a:off x="4709160" y="38404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~45% less error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Hybrid RMSE (₹12.9) vs. global baseline (₹22.7)</a:t>
            </a:r>
            <a:endParaRPr lang="en-US" sz="1200" dirty="0"/>
          </a:p>
        </p:txBody>
      </p:sp>
      <p:sp>
        <p:nvSpPr>
          <p:cNvPr id="6037" name="Shape 35"/>
          <p:cNvSpPr/>
          <p:nvPr/>
        </p:nvSpPr>
        <p:spPr>
          <a:xfrm>
            <a:off x="4572000" y="4453128"/>
            <a:ext cx="393192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38" name="Text 36"/>
          <p:cNvSpPr/>
          <p:nvPr/>
        </p:nvSpPr>
        <p:spPr>
          <a:xfrm>
            <a:off x="4709160" y="45079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C4 best R²=0.91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Long Peak rides most predictable — distance + time explain 91% of variance</a:t>
            </a:r>
            <a:endParaRPr lang="en-US" sz="1200" dirty="0"/>
          </a:p>
        </p:txBody>
      </p:sp>
      <p:sp>
        <p:nvSpPr>
          <p:cNvPr id="6039" name="Shape 37"/>
          <p:cNvSpPr/>
          <p:nvPr/>
        </p:nvSpPr>
        <p:spPr>
          <a:xfrm>
            <a:off x="0" y="4882896"/>
            <a:ext cx="8732520" cy="2606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040" name="Text 38"/>
          <p:cNvSpPr/>
          <p:nvPr/>
        </p:nvSpPr>
        <p:spPr>
          <a:xfrm>
            <a:off x="182880" y="4882896"/>
            <a:ext cx="83667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Hybrid model outperforms global baseline by 24% in R² and 45% in RMSE — validated across all 4 demand segments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00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7002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3" name="leftcol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4" name="tag"/>
          <p:cNvSpPr>
            <a:spLocks noGrp="1"/>
          </p:cNvSpPr>
          <p:nvPr/>
        </p:nvSpPr>
        <p:spPr>
          <a:xfrm>
            <a:off x="800000" y="342900"/>
            <a:ext cx="3000000" cy="304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1" dirty="0" spc="400">
                <a:solidFill>
                  <a:srgbClr val="FFD700"/>
                </a:solidFill>
                <a:latin typeface="Calibri"/>
              </a:rPr>
              <a:t>HYBRID ML  ·  CONCLUSION</a:t>
            </a:r>
          </a:p>
        </p:txBody>
      </p:sp>
      <p:sp>
        <p:nvSpPr>
          <p:cNvPr id="7005" name="maintitle"/>
          <p:cNvSpPr>
            <a:spLocks noGrp="1"/>
          </p:cNvSpPr>
          <p:nvPr/>
        </p:nvSpPr>
        <p:spPr>
          <a:xfrm>
            <a:off x="800000" y="685800"/>
            <a:ext cx="7800000" cy="10287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4400" b="1" dirty="0">
                <a:solidFill>
                  <a:srgbClr val="FFFFFF"/>
                </a:solidFill>
                <a:latin typeface="Calibri"/>
              </a:rPr>
              <a:t xml:space="preserve">Rapido fares are </a:t>
            </a:r>
            <a:r>
              <a:rPr lang="en-US" sz="4400" b="1" dirty="0">
                <a:solidFill>
                  <a:srgbClr val="FFD700"/>
                </a:solidFill>
                <a:latin typeface="Calibri"/>
              </a:rPr>
              <a:t>not random.</a:t>
            </a:r>
          </a:p>
        </p:txBody>
      </p:sp>
      <p:sp>
        <p:nvSpPr>
          <p:cNvPr id="7006" name="subtitle"/>
          <p:cNvSpPr>
            <a:spLocks noGrp="1"/>
          </p:cNvSpPr>
          <p:nvPr/>
        </p:nvSpPr>
        <p:spPr>
          <a:xfrm>
            <a:off x="800000" y="1714500"/>
            <a:ext cx="7800000" cy="3429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0" i="1" dirty="0">
                <a:solidFill>
                  <a:srgbClr val="AAAAAA"/>
                </a:solidFill>
                <a:latin typeface="Calibri"/>
              </a:rPr>
              <a:t>They are structurally driven by distance and peak demand — and our hybrid model proves it.</a:t>
            </a:r>
          </a:p>
        </p:txBody>
      </p:sp>
      <p:sp>
        <p:nvSpPr>
          <p:cNvPr id="7007" name="sep"/>
          <p:cNvSpPr>
            <a:spLocks noGrp="1"/>
          </p:cNvSpPr>
          <p:nvPr/>
        </p:nvSpPr>
        <p:spPr>
          <a:xfrm>
            <a:off x="800000" y="2171700"/>
            <a:ext cx="7200000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0" name="box1"/>
          <p:cNvSpPr>
            <a:spLocks noGrp="1"/>
          </p:cNvSpPr>
          <p:nvPr/>
        </p:nvSpPr>
        <p:spPr>
          <a:xfrm>
            <a:off x="800000" y="2285100"/>
            <a:ext cx="2285100" cy="1828800"/>
          </a:xfrm>
          <a:prstGeom prst="rect">
            <a:avLst/>
          </a:prstGeom>
          <a:solidFill>
            <a:srgbClr val="1C1C1C"/>
          </a:solidFill>
          <a:ln w="19050">
            <a:solidFill>
              <a:srgbClr val="FFD700"/>
            </a:solidFill>
          </a:ln>
        </p:spPr>
        <p:txBody>
          <a:bodyPr/>
          <a:lstStyle/>
          <a:p/>
        </p:txBody>
      </p:sp>
      <p:sp>
        <p:nvSpPr>
          <p:cNvPr id="7021" name="box1topbar"/>
          <p:cNvSpPr>
            <a:spLocks noGrp="1"/>
          </p:cNvSpPr>
          <p:nvPr/>
        </p:nvSpPr>
        <p:spPr>
          <a:xfrm>
            <a:off x="800000" y="2285100"/>
            <a:ext cx="2285100" cy="1143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2" name="box1content"/>
          <p:cNvSpPr>
            <a:spLocks noGrp="1"/>
          </p:cNvSpPr>
          <p:nvPr/>
        </p:nvSpPr>
        <p:spPr>
          <a:xfrm>
            <a:off x="914400" y="2438400"/>
            <a:ext cx="2057400" cy="1600200"/>
          </a:xfrm>
          <a:prstGeom prst="rect">
            <a:avLst/>
          </a:prstGeom>
          <a:noFill/>
        </p:spPr>
        <p:txBody>
          <a:bodyPr anchor="t" wrap="square"/>
          <a:lstStyle/>
          <a:p>
            <a:r>
              <a:rPr lang="en-US" sz="1400" b="1" dirty="0">
                <a:solidFill>
                  <a:srgbClr val="FFD700"/>
                </a:solidFill>
                <a:latin typeface="Calibri"/>
              </a:rPr>
              <a:t>MODEL</a:t>
            </a:r>
          </a:p>
          <a:p>
            <a:endParaRPr/>
          </a:p>
          <a:p>
            <a:r>
              <a:rPr lang="en-US" sz="2600" b="1" dirty="0">
                <a:solidFill>
                  <a:srgbClr val="FFFFFF"/>
                </a:solidFill>
                <a:latin typeface="Calibri"/>
              </a:rPr>
              <a:t>R² = 0.88</a:t>
            </a:r>
          </a:p>
          <a:p>
            <a:endParaRPr/>
          </a:p>
          <a:p>
            <a:r>
              <a:rPr lang="en-US" sz="1100" b="0" dirty="0">
                <a:solidFill>
                  <a:srgbClr val="CCCCCC"/>
                </a:solidFill>
                <a:latin typeface="Calibri"/>
              </a:rPr>
              <a:t>Hybrid K-Means + Cluster OLS outperforms any single global regression model</a:t>
            </a:r>
          </a:p>
        </p:txBody>
      </p:sp>
      <p:sp>
        <p:nvSpPr>
          <p:cNvPr id="7030" name="box2"/>
          <p:cNvSpPr>
            <a:spLocks noGrp="1"/>
          </p:cNvSpPr>
          <p:nvPr/>
        </p:nvSpPr>
        <p:spPr>
          <a:xfrm>
            <a:off x="3314700" y="2285100"/>
            <a:ext cx="2285100" cy="1828800"/>
          </a:xfrm>
          <a:prstGeom prst="rect">
            <a:avLst/>
          </a:prstGeom>
          <a:solidFill>
            <a:srgbClr val="1C1C1C"/>
          </a:solidFill>
          <a:ln w="19050">
            <a:solidFill>
              <a:srgbClr val="FFD700"/>
            </a:solidFill>
          </a:ln>
        </p:spPr>
        <p:txBody>
          <a:bodyPr/>
          <a:lstStyle/>
          <a:p/>
        </p:txBody>
      </p:sp>
      <p:sp>
        <p:nvSpPr>
          <p:cNvPr id="7031" name="box2topbar"/>
          <p:cNvSpPr>
            <a:spLocks noGrp="1"/>
          </p:cNvSpPr>
          <p:nvPr/>
        </p:nvSpPr>
        <p:spPr>
          <a:xfrm>
            <a:off x="3314700" y="2285100"/>
            <a:ext cx="2285100" cy="1143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2" name="box2content"/>
          <p:cNvSpPr>
            <a:spLocks noGrp="1"/>
          </p:cNvSpPr>
          <p:nvPr/>
        </p:nvSpPr>
        <p:spPr>
          <a:xfrm>
            <a:off x="3428100" y="2438400"/>
            <a:ext cx="2057400" cy="1600200"/>
          </a:xfrm>
          <a:prstGeom prst="rect">
            <a:avLst/>
          </a:prstGeom>
          <a:noFill/>
        </p:spPr>
        <p:txBody>
          <a:bodyPr anchor="t" wrap="square"/>
          <a:lstStyle/>
          <a:p>
            <a:r>
              <a:rPr lang="en-US" sz="1400" b="1" dirty="0">
                <a:solidFill>
                  <a:srgbClr val="FFD700"/>
                </a:solidFill>
                <a:latin typeface="Calibri"/>
              </a:rPr>
              <a:t>EQUITY</a:t>
            </a:r>
          </a:p>
          <a:p>
            <a:endParaRPr/>
          </a:p>
          <a:p>
            <a:r>
              <a:rPr lang="en-US" sz="2600" b="1" dirty="0">
                <a:solidFill>
                  <a:srgbClr val="FFFFFF"/>
                </a:solidFill>
                <a:latin typeface="Calibri"/>
              </a:rPr>
              <a:t>+42% burden</a:t>
            </a:r>
          </a:p>
          <a:p>
            <a:endParaRPr/>
          </a:p>
          <a:p>
            <a:r>
              <a:rPr lang="en-US" sz="1100" b="0" dirty="0">
                <a:solidFill>
                  <a:srgbClr val="CCCCCC"/>
                </a:solidFill>
                <a:latin typeface="Calibri"/>
              </a:rPr>
              <a:t>Low-income peak-hour commuters pay the most — with no flexibility to avoid surge</a:t>
            </a:r>
          </a:p>
        </p:txBody>
      </p:sp>
      <p:sp>
        <p:nvSpPr>
          <p:cNvPr id="7040" name="box3"/>
          <p:cNvSpPr>
            <a:spLocks noGrp="1"/>
          </p:cNvSpPr>
          <p:nvPr/>
        </p:nvSpPr>
        <p:spPr>
          <a:xfrm>
            <a:off x="5829600" y="2285100"/>
            <a:ext cx="2285100" cy="1828800"/>
          </a:xfrm>
          <a:prstGeom prst="rect">
            <a:avLst/>
          </a:prstGeom>
          <a:solidFill>
            <a:srgbClr val="1C1C1C"/>
          </a:solidFill>
          <a:ln w="19050">
            <a:solidFill>
              <a:srgbClr val="FFD700"/>
            </a:solidFill>
          </a:ln>
        </p:spPr>
        <p:txBody>
          <a:bodyPr/>
          <a:lstStyle/>
          <a:p/>
        </p:txBody>
      </p:sp>
      <p:sp>
        <p:nvSpPr>
          <p:cNvPr id="7041" name="box3topbar"/>
          <p:cNvSpPr>
            <a:spLocks noGrp="1"/>
          </p:cNvSpPr>
          <p:nvPr/>
        </p:nvSpPr>
        <p:spPr>
          <a:xfrm>
            <a:off x="5829600" y="2285100"/>
            <a:ext cx="2285100" cy="1143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2" name="box3content"/>
          <p:cNvSpPr>
            <a:spLocks noGrp="1"/>
          </p:cNvSpPr>
          <p:nvPr/>
        </p:nvSpPr>
        <p:spPr>
          <a:xfrm>
            <a:off x="5943000" y="2438400"/>
            <a:ext cx="2057400" cy="1600200"/>
          </a:xfrm>
          <a:prstGeom prst="rect">
            <a:avLst/>
          </a:prstGeom>
          <a:noFill/>
        </p:spPr>
        <p:txBody>
          <a:bodyPr anchor="t" wrap="square"/>
          <a:lstStyle/>
          <a:p>
            <a:r>
              <a:rPr lang="en-US" sz="1400" b="1" dirty="0">
                <a:solidFill>
                  <a:srgbClr val="FFD700"/>
                </a:solidFill>
                <a:latin typeface="Calibri"/>
              </a:rPr>
              <a:t>ACTION</a:t>
            </a:r>
          </a:p>
          <a:p>
            <a:endParaRPr/>
          </a:p>
          <a:p>
            <a:r>
              <a:rPr lang="en-US" sz="2600" b="1" dirty="0">
                <a:solidFill>
                  <a:srgbClr val="FFFFFF"/>
                </a:solidFill>
                <a:latin typeface="Calibri"/>
              </a:rPr>
              <a:t>Cap at 1.5×</a:t>
            </a:r>
          </a:p>
          <a:p>
            <a:endParaRPr/>
          </a:p>
          <a:p>
            <a:r>
              <a:rPr lang="en-US" sz="1100" b="0" dirty="0">
                <a:solidFill>
                  <a:srgbClr val="CCCCCC"/>
                </a:solidFill>
                <a:latin typeface="Calibri"/>
              </a:rPr>
              <a:t>Surge cap + in-app cluster transparency + off-peak discounts + commuter subsidies</a:t>
            </a:r>
          </a:p>
        </p:txBody>
      </p:sp>
      <p:sp>
        <p:nvSpPr>
          <p:cNvPr id="7050" name="concbox"/>
          <p:cNvSpPr>
            <a:spLocks noGrp="1"/>
          </p:cNvSpPr>
          <p:nvPr/>
        </p:nvSpPr>
        <p:spPr>
          <a:xfrm>
            <a:off x="800000" y="4343400"/>
            <a:ext cx="7314900" cy="1676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1" name="concinnerbox"/>
          <p:cNvSpPr>
            <a:spLocks noGrp="1"/>
          </p:cNvSpPr>
          <p:nvPr/>
        </p:nvSpPr>
        <p:spPr>
          <a:xfrm>
            <a:off x="838200" y="4381500"/>
            <a:ext cx="7238700" cy="1600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2" name="conctxt"/>
          <p:cNvSpPr>
            <a:spLocks noGrp="1"/>
          </p:cNvSpPr>
          <p:nvPr/>
        </p:nvSpPr>
        <p:spPr>
          <a:xfrm>
            <a:off x="990600" y="4419600"/>
            <a:ext cx="6934200" cy="1524000"/>
          </a:xfrm>
          <a:prstGeom prst="rect">
            <a:avLst/>
          </a:prstGeom>
          <a:noFill/>
        </p:spPr>
        <p:txBody>
          <a:bodyPr anchor="ctr" lIns="114300" rIns="114300"/>
          <a:lstStyle/>
          <a:p>
            <a:pPr algn="ctr"/>
            <a:r>
              <a:rPr lang="en-US" sz="1200" b="1" dirty="0">
                <a:solidFill>
                  <a:srgbClr val="FFD700"/>
                </a:solidFill>
                <a:latin typeface="Calibri"/>
              </a:rPr>
              <a:t xml:space="preserve">CONCLUSION  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The Hybrid K-Means + Multiple Regression pipeline decodes Rapido’s pricing algorithm, achieving R²=0.88 across 183,420 rides. It reveals a 42% peak-hour burden on low-income commuters and a 45% reduction in prediction error vs. the global baseline. Transparent, cluster-aware pricing can simultaneously improve platform profitability and social equity.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2026-03-07T08:50:59Z</dcterms:created>
  <dcterms:modified xsi:type="dcterms:W3CDTF">2026-03-07T08:50:59Z</dcterms:modified>
</cp:coreProperties>
</file>